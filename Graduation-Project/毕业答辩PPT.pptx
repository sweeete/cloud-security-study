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4572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0">
                <a:solidFill>
                  <a:srgbClr val="7F8C9A"/>
                </a:solidFill>
              </a:defRPr>
            </a:pPr>
            <a:r>
              <a:t>本科毕业设计答辩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400" b="1">
                <a:solidFill>
                  <a:srgbClr val="FFFFFF"/>
                </a:solidFill>
              </a:defRPr>
            </a:pPr>
            <a:r>
              <a:t>基于优化XGBoost的</a:t>
            </a:r>
            <a:br/>
            <a:r>
              <a:t>DGA检测系统设计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7F8C9A"/>
                </a:solidFill>
              </a:defRPr>
            </a:pPr>
            <a:r>
              <a:t>Design of DGA Detection System Based on Optimized XGBoost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00400"/>
            <a:ext cx="274320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学    院：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474720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数学与信息科学学院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58768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专    业：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858768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信息安全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42816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班    级：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242816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信安221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26864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学生姓名：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626864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苑文洋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10912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学    号：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010912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32215300032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39496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7F8C9A"/>
                </a:solidFill>
              </a:defRPr>
            </a:pPr>
            <a:r>
              <a:t>指导教师：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5394960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余玉银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目  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BBCCDD"/>
                </a:solidFill>
              </a:defRPr>
            </a:pPr>
            <a: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1554480"/>
            <a:ext cx="73152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600200"/>
            <a:ext cx="640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572768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A3C6E"/>
                </a:solidFill>
              </a:defRPr>
            </a:pPr>
            <a: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847088"/>
            <a:ext cx="5486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F8C9A"/>
                </a:solidFill>
              </a:defRPr>
            </a:pPr>
            <a:r>
              <a:t>DGA威胁现状与检测挑战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468880"/>
            <a:ext cx="73152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2514600"/>
            <a:ext cx="640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87168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A3C6E"/>
                </a:solidFill>
              </a:defRPr>
            </a:pPr>
            <a:r>
              <a:t>相关理论与技术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761488"/>
            <a:ext cx="5486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F8C9A"/>
                </a:solidFill>
              </a:defRPr>
            </a:pPr>
            <a:r>
              <a:t>XGBoost / 贝叶斯优化 / 特征工程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383280"/>
            <a:ext cx="73152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640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401568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A3C6E"/>
                </a:solidFill>
              </a:defRPr>
            </a:pPr>
            <a:r>
              <a:t>系统设计与实现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675888"/>
            <a:ext cx="5486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F8C9A"/>
                </a:solidFill>
              </a:defRPr>
            </a:pPr>
            <a:r>
              <a:t>数据预处理 / 特征提取 / 模型训练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297680"/>
            <a:ext cx="73152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4343400"/>
            <a:ext cx="640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315968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A3C6E"/>
                </a:solidFill>
              </a:defRPr>
            </a:pPr>
            <a:r>
              <a:t>实验与分析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590288"/>
            <a:ext cx="5486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F8C9A"/>
                </a:solidFill>
              </a:defRPr>
            </a:pPr>
            <a:r>
              <a:t>二分类 / 多分类 / 结果对比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5212080"/>
            <a:ext cx="73152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1720" y="5257800"/>
            <a:ext cx="640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230368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1A3C6E"/>
                </a:solidFill>
              </a:defRPr>
            </a:pPr>
            <a:r>
              <a:t>总结与展望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504688"/>
            <a:ext cx="54864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F8C9A"/>
                </a:solidFill>
              </a:defRPr>
            </a:pPr>
            <a:r>
              <a:t>创新点 / 不足 / 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01  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3200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核心问题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DGA：僵尸网络逃避黑名单检测的核心手段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攻击者通过算法生成随机域名，动态切换C2服务器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传统黑名单/签名检测无法应对域名频繁变种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单日可生成数万个域名，防御方难以预判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4864" cy="3200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本文目标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基于XGBoost构建检测模型，兼顾效率与精度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引入贝叶斯优化（Optuna）自动调参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对比统计/N-gram/融合特征方案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同时实现二分类（恶意检测）和多分类（家族溯源）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🎯  研究目标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构建基于优化XGBoost的DGA检测系统，实现高效的二分类恶意域名检测与多分类家族溯源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02  DGA技术原理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DGA攻击流程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11680"/>
            <a:ext cx="1828800" cy="5943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1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恶意软件感染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1031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011680"/>
            <a:ext cx="1828800" cy="5943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3239" y="2084831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DGA计算域名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1031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2011680"/>
            <a:ext cx="1828800" cy="5943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2084831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尝试连接C2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1031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2011680"/>
            <a:ext cx="1828800" cy="5943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2084831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注册少数域名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10312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2011680"/>
            <a:ext cx="1828800" cy="5943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2084831"/>
            <a:ext cx="173736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执行控制指令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926080"/>
            <a:ext cx="11247120" cy="32004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700"/>
              </a:spcAft>
              <a:defRPr sz="1300">
                <a:solidFill>
                  <a:srgbClr val="2C3E50"/>
                </a:solidFill>
              </a:defRPr>
            </a:pPr>
            <a:r>
              <a:t>DGA核心逻辑：种子 + 算法 → 批量生成候选域名 → 攻击者注册少量即可维持C2通信</a:t>
            </a:r>
          </a:p>
          <a:p>
            <a:pPr>
              <a:spcAft>
                <a:spcPts val="700"/>
              </a:spcAft>
              <a:defRPr sz="1300">
                <a:solidFill>
                  <a:srgbClr val="2C3E50"/>
                </a:solidFill>
              </a:defRPr>
            </a:pPr>
            <a:r>
              <a:t>主流DGA家族：Suppobox（日期+字典）、Kraken（字符拼接）、Shiotob（时间种子）、Bamital等</a:t>
            </a:r>
          </a:p>
          <a:p>
            <a:pPr>
              <a:spcAft>
                <a:spcPts val="700"/>
              </a:spcAft>
              <a:defRPr sz="1300">
                <a:solidFill>
                  <a:srgbClr val="2C3E50"/>
                </a:solidFill>
              </a:defRPr>
            </a:pPr>
            <a:r>
              <a:t>检测难点：域名高度随机化、不断变种、合法域名可能被误报</a:t>
            </a:r>
          </a:p>
          <a:p>
            <a:pPr>
              <a:spcAft>
                <a:spcPts val="700"/>
              </a:spcAft>
              <a:defRPr sz="1300">
                <a:solidFill>
                  <a:srgbClr val="2C3E50"/>
                </a:solidFill>
              </a:defRPr>
            </a:pPr>
            <a:r>
              <a:t>传统方法局限：黑名单无法预知、规则匹配难以应对算法变种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02  XGBoost算法原理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29260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核心机制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029200" cy="2423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逐步添加决策树，每棵新树修正残差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损失 = 训练误差 + L1/L2正则化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二阶泰勒展开近似，收敛快于GBDT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列采样 + Shrinkage + 早停防过拟合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4864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4864" cy="2926080"/>
          </a:xfrm>
          <a:prstGeom prst="rect">
            <a:avLst/>
          </a:prstGeom>
          <a:solidFill>
            <a:srgbClr val="17A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17A18E"/>
                </a:solidFill>
              </a:defRPr>
            </a:pPr>
            <a:r>
              <a:t>选择XGBoost的原因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5029200" cy="2423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✅ 天然处理高维稀疏特征（10,000维）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✅ Boosting序列优化，偏差低于RF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✅ 训练速度快于深度学习5~10倍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✅ 可解释性强，特征重要性可直接获取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124712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3657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1A3C6E"/>
                </a:solidFill>
              </a:defRPr>
            </a:pPr>
            <a:r>
              <a:t>目标函数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10058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Obj = Σ L(yᵢ, ŷᵢ) + Σ Ω(fₖ)</a:t>
            </a:r>
            <a:br/>
            <a:r>
              <a:t>Ω(f) = γT + ½λ‖ω‖²    L=损失  Ω=正则化  T=叶节点  ω=叶权重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02  特征工程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36576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统计特征（6维）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029200" cy="3154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① 域名长度 — 正常与DGA域名字符数差异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② 数字占比 — DGA含大量随机数字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③ 信息熵 — 随机字符串熵值更高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④ 连续辅音比例 — 恶意域名常辅音堆叠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⑤ 重复字符比例 — 正常域名更易记忆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⑥ 元音占比 — 正常域名可读性更强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4864" cy="3657600"/>
          </a:xfrm>
          <a:prstGeom prst="rect">
            <a:avLst/>
          </a:prstGeom>
          <a:solidFill>
            <a:srgbClr val="17A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17A18E"/>
                </a:solidFill>
              </a:defRPr>
            </a:pPr>
            <a:r>
              <a:t>N-gram 特征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5029200" cy="3154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将域名按n个连续字符滑动切分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2-gram 示例：apple → ap pp pl le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CountVectorizer统计各组合频次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取最频繁的10,000维作为特征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捕捉微观字符序列模式差异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2-4gram 混合2/3/4字符组合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FE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F39C12"/>
                </a:solidFill>
              </a:defRPr>
            </a:pPr>
            <a:r>
              <a:t>💡 融合策略：统计特征（宏观基准）+ 2-gram特征（微观指纹）→ 维度 6 + 10,000 = 10,006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03  系统设计——整体架构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828800" cy="6400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域名采集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463040"/>
            <a:ext cx="1828800" cy="6400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0876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69164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数据预处理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1463040"/>
            <a:ext cx="1828800" cy="6400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50876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79" y="169164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特征提取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1463040"/>
            <a:ext cx="1828800" cy="6400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150876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Step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169164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模型训练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60020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A3C6E"/>
                </a:solidFill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1463040"/>
            <a:ext cx="1828800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508760"/>
            <a:ext cx="16459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Step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1691640"/>
            <a:ext cx="1645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结果评估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2468880"/>
            <a:ext cx="548640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2487168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980B9"/>
                </a:solidFill>
              </a:defRPr>
            </a:pPr>
            <a:r>
              <a:t>📥  数据采集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2724912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Alexa 20万 + 360 DGA 20万 = 40万样本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3154680"/>
            <a:ext cx="548640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54480" y="3172968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980B9"/>
                </a:solidFill>
              </a:defRPr>
            </a:pPr>
            <a:r>
              <a:t>🧹  数据预处理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410712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去重 → 去TLD → 8:1:1 划分训练/验证/测试集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3840480"/>
            <a:ext cx="548640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54480" y="3858768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980B9"/>
                </a:solidFill>
              </a:defRPr>
            </a:pPr>
            <a:r>
              <a:t>🔧  特征提取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4096512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统计特征（6维）+ N-gram（CountVectorizer, top 10,000）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4526280"/>
            <a:ext cx="548640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54480" y="4544568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980B9"/>
                </a:solidFill>
              </a:defRPr>
            </a:pPr>
            <a:r>
              <a:t>⚙️  模型训练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782312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XGBoost默认参数 vs Optuna贝叶斯优化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71600" y="5212080"/>
            <a:ext cx="548640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54480" y="5230368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980B9"/>
                </a:solidFill>
              </a:defRPr>
            </a:pPr>
            <a:r>
              <a:t>📊  结果评估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468112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2C3E50"/>
                </a:solidFill>
              </a:defRPr>
            </a:pPr>
            <a:r>
              <a:t>准确率 / 精确率 / 召回率 / F1 / AUC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03  数据预处理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36576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处理流程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029200" cy="3154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① 数据清洗：去除空值、重复域名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② TLD剥离：去除.com/.net等顶级域后缀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③ 标签编码：良性 → 0，DGA家族 → 1~10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④ 划分：训练80% / 验证10% / 测试10%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⑤ 特征标准化：CountVectorizer拟合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4864" cy="3657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为什么去TLD？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5029200" cy="3154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TLD是受控注册基准，对检测无贡献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DGA核心对抗逻辑在二级域名（前缀）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去除TLD可减少噪声，增强敏感度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例：abc123.com → abc123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保留全部前缀层级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03520"/>
            <a:ext cx="11247120" cy="10972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1A3C6E"/>
                </a:solidFill>
              </a:defRPr>
            </a:pPr>
            <a:r>
              <a:t>📊  数据集统计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7F8C9A"/>
                </a:solidFill>
              </a:defRPr>
            </a:pPr>
            <a:r>
              <a:t>训练集 320,000  |  验证集 40,000  |  测试集 40,000  |  合计 400,000 条域名样本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实验设计——特征分组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46304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0233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特征组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特征组合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①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6维统计特征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2-gram 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Bigram切片 + CountVectorizer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③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2-4gram 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混合切片（2/3/4字符）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 + 2-gram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融合特征（最优组合）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10,006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A3C6E"/>
                </a:solidFill>
              </a:defRPr>
            </a:pPr>
            <a:r>
              <a:t>实验设置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8912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实验一（二分类）：区分恶意域名（DGA）和良性域名（Alexa）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实验二（多分类）：对10个DGA家族进行细粒度分类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每组特征分别在 XGBoost 默认参数和 Optuna 贝叶斯优化下实验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实验结果——二分类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4712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7AE60"/>
                </a:solidFill>
              </a:defRPr>
            </a:pPr>
            <a:r>
              <a:t>🏆  最优结果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7AE60"/>
                </a:solidFill>
              </a:defRPr>
            </a:pPr>
            <a:r>
              <a:t>统计特征 + 2-gram + Optuna → 准确率 98.40%  |  F1 98.40%  |  AUC 0.9989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377440"/>
          <a:ext cx="116128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82"/>
                <a:gridCol w="1658982"/>
                <a:gridCol w="1658982"/>
                <a:gridCol w="1658982"/>
                <a:gridCol w="1658982"/>
                <a:gridCol w="1658982"/>
                <a:gridCol w="1658988"/>
              </a:tblGrid>
              <a:tr h="5486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特征组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优化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准确率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精确率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召回率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95.87%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95.97%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95.77%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95.87%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0.9931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96.12%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96.48%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95.76%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96.12%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0.9948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2-gram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97.53%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97.44%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97.63%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97.53%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0.9979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0.9981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默认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98.10%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98.39%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97.81%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98.10%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0.9984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Optuna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98.40%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98.47%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98.33%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98.40%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0.9989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实验结果——多分类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53312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7AE60"/>
                </a:solidFill>
              </a:defRPr>
            </a:pPr>
            <a:r>
              <a:t>🏆  最优：统计 + 2-gram 融合组 → 宏平均 F1 = 88.95%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371600" y="2286000"/>
          <a:ext cx="9144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特征组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准确率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宏平均 F1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统计特征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65.59%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53.78%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宏观基准定位，区分度有限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2-gram 特征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84.46%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76.80%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微观指纹提取，效果显著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2-4gram 特征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85.55%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77.70%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相比2-gram提升有限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统计+2-gram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89.98%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88.95%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7AE60"/>
                          </a:solidFill>
                        </a:defRPr>
                      </a:pPr>
                      <a:r>
                        <a:t>✅ 最优组合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📌 分析发现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统计特征→宏观基准  |  2-gram→微观指纹  |  融合→互补增益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贝叶斯优化：二分类+0.3%  |  多分类+3~5%（复杂任务收益更大）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03  Optuna贝叶斯优化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优化流程：定义目标函数 → 搜索超参数 → 自动剪枝 → 输出最优参数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54864" cy="3200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6771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超参数搜索范围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learning_rate:   [0.01, 0.3]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max_depth:       [3, 12]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n_estimators:    [50, 500]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subsample:       [0.6, 1.0]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colsample_bytree: [0.6, 1.0]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reg_lambda:      [0, 5]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54864" cy="3200400"/>
          </a:xfrm>
          <a:prstGeom prst="rect">
            <a:avLst/>
          </a:prstGeom>
          <a:solidFill>
            <a:srgbClr val="17A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26771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17A18E"/>
                </a:solidFill>
              </a:defRPr>
            </a:pPr>
            <a:r>
              <a:t>优化效果对比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60604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统计+2-gram / 二分类：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  准确率 98.10% → 98.40%  ▲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  F1     98.10% → 98.40%  ▲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  AUC   0.9984 → 0.9989 ▲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多分类提升：+3~5%（更显著）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搜索效率：50~100次试验收敛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13716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📊  特征对比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0789920" cy="868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统计特征：宏观基准定位，多分类F1仅53.78%，单独使用有限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2-gram特征：微观指纹提取，F1达76.80%，效果显著优于统计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融合特征：两者互补，F1 88.95%，为最优组合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2-4gram vs 2-gram：提升有限，融合时增益递减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471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54864" cy="1371600"/>
          </a:xfrm>
          <a:prstGeom prst="rect">
            <a:avLst/>
          </a:prstGeom>
          <a:solidFill>
            <a:srgbClr val="17A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0672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17A18E"/>
                </a:solidFill>
              </a:defRPr>
            </a:pPr>
            <a:r>
              <a:t>⚙️  优化对比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10789920" cy="868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二分类：默认→ Optuna 提升约+0.3%（已接近理论上限，AUC&gt;0.99）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多分类：默认→ Optuna 提升约+3~5%（复杂任务参数调优收益更大）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63440"/>
            <a:ext cx="112471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54864" cy="137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36592"/>
            <a:ext cx="10789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E74C3C"/>
                </a:solidFill>
              </a:defRPr>
            </a:pPr>
            <a:r>
              <a:t>⚠️  局限性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多分类准确率仍有提升空间（部分DGA家族样本量有限）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Suppobox等家族随机化程度高，F1偏低（72.1%）</a:t>
            </a:r>
          </a:p>
          <a:p>
            <a:pPr>
              <a:spcAft>
                <a:spcPts val="400"/>
              </a:spcAft>
              <a:defRPr sz="1200">
                <a:solidFill>
                  <a:srgbClr val="2C3E50"/>
                </a:solidFill>
              </a:defRPr>
            </a:pPr>
            <a:r>
              <a:t>目前仅离线验证，未部署在线环境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04  多分类——家族级分析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DGA家族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样本量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特征分析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Kraken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92.3%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40,000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长度+字符分布特征明显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Shiotob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35,000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n-gram模式区分度高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Bamital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30,000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域名结构较为固定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Pykspa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87.2%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25,000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随机化程度较高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Suppobox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72.1%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</a:defRPr>
                      </a:pPr>
                      <a:r>
                        <a:t>样本量有限，模式随机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📌  分析结论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2C3E50"/>
                </a:solidFill>
              </a:defRPr>
            </a:pPr>
            <a:r>
              <a:t>统计特征对域名结构固化的家族（如Bamital）区分度好</a:t>
            </a:r>
            <a:br/>
            <a:r>
              <a:t>2-gram特征对字符模式差异大的家族（如Shiotob）更有效</a:t>
            </a:r>
            <a:br/>
            <a:r>
              <a:t>融合特征在所有家族上取得平衡最优表现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74C3C"/>
                </a:solidFill>
              </a:defRPr>
            </a:pPr>
            <a:r>
              <a:t>样本量 &lt; 10,000 的家族 F1 明显偏低，说明数据量对多分类精度有显著影响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9144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05  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7432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400" b="0">
                <a:solidFill>
                  <a:srgbClr val="99AABB"/>
                </a:solidFill>
              </a:defRPr>
            </a:pPr>
            <a: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" cy="32004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2980B9"/>
                </a:solidFill>
              </a:defRPr>
            </a:pPr>
            <a:r>
              <a:t>✅  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构建基于XGBoost的DGA检测系统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系统对比4种特征工程方案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引入Optuna贝叶斯优化自动调参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二分类 F1 98.40% / AUC 0.9989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多分类宏平均 F1 88.95%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71600"/>
            <a:ext cx="54864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4864" cy="3200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444752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E74C3C"/>
                </a:solidFill>
              </a:defRPr>
            </a:pPr>
            <a:r>
              <a:t>🔭  未来展望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5029200" cy="26974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引入深度学习（CNN/LSTM）集成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扩展到实时在线检测场景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增加更多DGA家族样本覆盖</a:t>
            </a:r>
          </a:p>
          <a:p>
            <a:pPr>
              <a:spcAft>
                <a:spcPts val="400"/>
              </a:spcAft>
              <a:defRPr sz="1300">
                <a:solidFill>
                  <a:srgbClr val="2C3E50"/>
                </a:solidFill>
              </a:defRPr>
            </a:pPr>
            <a:r>
              <a:t>探索主动学习半监督方法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4572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1A3C6E"/>
                </a:solidFill>
              </a:defRPr>
            </a:pPr>
            <a:r>
              <a:t>📊  核心指标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86400"/>
            <a:ext cx="105156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2980B9"/>
                </a:solidFill>
              </a:defRPr>
            </a:pPr>
            <a:r>
              <a:t>二分类：准确率 98.40%  |  F1 98.40%  |  AUC 0.9989</a:t>
            </a:r>
            <a:br/>
            <a:r>
              <a:t>多分类：宏平均 F1 88.95%  |  最优特征组合：统计 + 2-gram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371600"/>
            <a:ext cx="82296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致  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377440"/>
            <a:ext cx="2103120" cy="182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743200"/>
            <a:ext cx="82296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0">
                <a:solidFill>
                  <a:srgbClr val="7F8C9A"/>
                </a:solidFill>
              </a:defRPr>
            </a:pPr>
            <a:r>
              <a:t>感谢指导老师余玉银老师的悉心指导与耐心帮助</a:t>
            </a:r>
            <a:br/>
            <a:r>
              <a:t>感谢数学与信息科学学院各位老师的教诲与培养</a:t>
            </a:r>
            <a:br/>
            <a:r>
              <a:t>感谢家人和同学的支持与鼓励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754880"/>
            <a:ext cx="3931920" cy="18288"/>
          </a:xfrm>
          <a:prstGeom prst="rect">
            <a:avLst/>
          </a:prstGeom>
          <a:solidFill>
            <a:srgbClr val="7F8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请各位老师批评指正！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60720"/>
            <a:ext cx="8229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7F8C9A"/>
                </a:solidFill>
              </a:defRPr>
            </a:pPr>
            <a: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