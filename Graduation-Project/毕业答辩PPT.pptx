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7295" cy="13716"/>
          </a:xfrm>
          <a:prstGeom prst="rect">
            <a:avLst/>
          </a:prstGeom>
          <a:solidFill>
            <a:srgbClr val="A0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</a:defRPr>
            </a:pPr>
            <a:r>
              <a:t>本科毕业设计答辩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基于优化XGBoost的DGA检测系统设计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A"/>
                </a:solidFill>
              </a:defRPr>
            </a:pPr>
            <a:r>
              <a:t>Design of DGA Detection System Based on Optimized 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学    院：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数学与信息科学学院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专    业：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信息安全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班    级：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信安221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学生姓名：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苑文洋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学    号：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32215300032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4"/>
                </a:solidFill>
              </a:defRPr>
            </a:pPr>
            <a:r>
              <a:t>指导教师：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余玉银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4"/>
                </a:solidFill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45920"/>
            <a:ext cx="109728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3957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642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93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</a:defRPr>
            </a:pPr>
            <a:r>
              <a:t>DGA威胁现状与检测挑战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606040"/>
            <a:ext cx="109728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4414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24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相关理论与技术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</a:defRPr>
            </a:pPr>
            <a:r>
              <a:t>XGBoost / 贝叶斯优化 / 特征工程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566160"/>
            <a:ext cx="109728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4871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84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系统设计与实现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13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</a:defRPr>
            </a:pPr>
            <a:r>
              <a:t>数据预处理 / 特征提取 / 模型训练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526280"/>
            <a:ext cx="109728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25328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44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实验与分析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73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</a:defRPr>
            </a:pPr>
            <a:r>
              <a:t>二分类 / 多分类 / 结果对比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5486400"/>
            <a:ext cx="109728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166420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046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总结与展望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833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</a:defRPr>
            </a:pPr>
            <a:r>
              <a:t>创新点 / 不足 / 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  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DGA：僵尸网络逃避黑名单检测的核心手段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攻击者通过算法生成随机域名，动态切换C2服务器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传统黑名单/签名检测无法应对域名频繁变种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单日可生成数万个域名，防御方难以预判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本文方案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基于XGBoost构建检测模型，兼顾效率与精度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引入贝叶斯优化（Optuna）自动调参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对比统计/N-gram/融合特征方案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同时实现二分类（恶意检测）和多分类（家族溯源）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DE"/>
                </a:solidFill>
              </a:defRPr>
            </a:pPr>
            <a:r>
              <a:t>🎯 研究目标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构建基于优化XGBoost的DGA检测系统，实现高效的二分类恶意域名检测与多分类家族溯源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DGA技术原理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DGA攻击流程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8288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恶意软件感染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194560"/>
            <a:ext cx="18288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DGA计算域名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194560"/>
            <a:ext cx="18288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尝试连接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18288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注册C2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194560"/>
            <a:ext cx="18288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执行指令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DGA核心逻辑：种子密钥 + 算法 → 批量生成域名 → 攻击者注册少量域名即可维持控制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常见DGA家族：Suppobox（日期+字典）、Kraken（字符拼接）、Shiotob（时间种子）等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检测难点：域名随机化程度高、不断变种、合法域名也可能被误报为恶意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传统方法局限：黑名单无法预知未注册域名，规则匹配难以应对算法变种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XGBoost算法原理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核心机制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逐步添加决策树，每棵新树修正残差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损失函数 = 训练误差 + 正则化项（L1+L2）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二阶泰勒展开近似，收敛速度快于GBDT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支持列采样、Shrinkage、早停防过拟合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选择XGBoost的原因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✅ 相比SVM：天然处理高维稀疏特征（10,000维N-gram）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✅ 相比Random Forest：Boosting序列优化，偏差更低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✅ 相比深度学习：训练速度快5~10倍，可解释性强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✅ 相比单模型：集成多个弱分类器，方差低、泛化好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目标函数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4"/>
                </a:solidFill>
              </a:defRPr>
            </a:pPr>
            <a:r>
              <a:t>Obj = Σ L(yi, ŷi) + Σ Ω(fk)    其中 Ω(f) = γT + ½λ‖ω‖²</a:t>
            </a:r>
            <a:br/>
            <a:r>
              <a:t>L = 损失函数  |  Ω = 正则化项  |  T = 叶子节点数  |  ω = 叶子权重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统计特征（6维）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① 域名长度 — 正常 vs DGA 域名字符数差异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② 数字占比 — DGA常含大量随机数字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③ 信息熵 — 随机字符串熵值更高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④ 连续辅音比例 — 恶意域名常出现辅音堆叠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⑤ 重复字符比例 — 正常域名可读性强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⑥ 元音占比 — 正常域名元音比例更高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N-gram 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将域名按n个连续字符滑动切分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2-gram 示例：apple → ap pp pl le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CountVectorizer 统计各组合频次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取最频繁的10,000维作为特征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捕捉微观字符序列模式差异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💡 融合特征策略：统计特征（宏观基准）+ 2-gram特征（微观指纹）→ 维度：6 + 10,000 = 10,006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系统设计——整体架构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域名采集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554480"/>
            <a:ext cx="1828800" cy="7315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数据预处理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54480"/>
            <a:ext cx="1828800" cy="7315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特征提取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554480"/>
            <a:ext cx="1828800" cy="7315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模型训练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554480"/>
            <a:ext cx="18288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结果评估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651760"/>
            <a:ext cx="1645920" cy="45720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5021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📥 数据采集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6700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Alexa 20万良性 + 360 DGA 20万恶意 = 40万样本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337560"/>
            <a:ext cx="1645920" cy="45720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273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🧹 数据预处理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3558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去重 → 去TLD → 8:1:1 划分训练/验证/测试集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023360"/>
            <a:ext cx="1645920" cy="45720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044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🔧 特征提取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统计特征（6维）+ N-gram（CountVectorizer, top 10,000）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709160"/>
            <a:ext cx="1645920" cy="45720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8163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⚙️ 模型训练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7274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XGBoost默认参数 vs Optuna贝叶斯优化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394960"/>
            <a:ext cx="1645920" cy="45720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5021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📊 结果评估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4132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准确率 / 精确率 / 召回率 / F1 / 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数据预处理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处理流程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① 数据清洗：去除空值、重复域名（精确去重）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② TLD剥离：去除.com/.net/.org等顶级域后缀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③ 标签编码：良性域名→0，DGA家族→1~10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④ 数据划分：训练集80% / 验证集10% / 测试集10%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⑤ 特征标准化：N-gram使用CountVectorizer拟合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为什么去TLD？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TLD是受控注册基准，对恶意检测无贡献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DGA核心对抗逻辑在二级域名（前缀）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去除TLD减少噪声，提升模型敏感度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例：abc123.com → abc123（保留全部前缀）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数据集统计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4"/>
                </a:solidFill>
              </a:defRPr>
            </a:pPr>
            <a:r>
              <a:t>训练集：320,000条  |  验证集：40,000条  |  测试集：40,000条  |  共400,000条域名样本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实验设计——特征分组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特征组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特征组合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6维统计特征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2-gram 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Bigram切片 + CountVectorizer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③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2-4gram 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混合切片（2/3/4字符）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 + 2-gram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融合特征（最优组合）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10,006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实验设置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实验一（二分类）：区分恶意域名（DGA）和良性域名（Alexa）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实验二（多分类）：对10个DGA家族进行细粒度分类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每组特征分别在 XGBoost 默认参数和 Optuna 贝叶斯优化下各运行一次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评估指标：准确率、精确率、召回率、F1-score、AUC（二分类）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实验结果——二分类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🏆 最优结果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</a:defRPr>
            </a:pPr>
            <a:r>
              <a:t>统计特征 + 2-gram 融合组 + Optuna贝叶斯优化 → 准确率 98.40% | F1 98.40% | AUC 0.9989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25603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特征组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优化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精确率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默认参数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95.87%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95.97%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95.77%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95.87%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0.9931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Optuna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95.76%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0.9948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2-gram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默认参数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97.53%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97.44%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97.63%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97.53%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0.9979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Optuna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0.9981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统计+2-gram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默认参数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98.10%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98.39%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97.81%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98.10%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0.9984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统计+2-gram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Optuna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98.47%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98.33%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0.9989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实验结果——多分类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🏆 最优结果：统计特征 + 2-gram 融合组 → 宏平均 F1 = 88.95%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237744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特征组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宏平均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统计特征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65.59%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53.78%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宏观基准定位，区分度有限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2-gram 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76.80%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微观指纹提取，效果显著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2-4gram 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85.55%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77.70%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相比2-gram提升有限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统计 + 2-gram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89.98%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88.95%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✅ 最优组合，优势明确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📌 分析发现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统计特征 → 宏观基准定位  |  2-gram特征 → 微观指纹修正  |  融合 → 互补增益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贝叶斯优化：二分类提升约+0.3%，多分类提升约+3~5%（复杂任务收益更大）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Optuna贝叶斯优化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优化流程：定义目标函数 → Optuna搜索超参数空间 → 自动剪枝 → 输出最优参数集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超参数搜索范围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learning_rate:   [0.01, 0.3]      学习率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max_depth:       [3, 12]             树深度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n_estimators:    [50, 500]           树数量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subsample:       [0.6, 1.0]        样本采样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colsample_bytree: [0.6, 1.0]        特征采样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reg_lambda:      [0, 5]               L2正则化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4864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13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优化效果对比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默认 vs Optuna（统计+2-gram / 二分类）：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  准确率：98.10% → 98.40%  ▲ +0.30%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  F1：      98.10% → 98.40%  ▲ +0.30%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  AUC：    0.9984 → 0.9989 ▲ +0.0005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多分类提升更显著：约 +3~5%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搜索效率：50~100次试验即可收敛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📊 特征对比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统计特征：宏观基准定位，单独使用效果有限（F1 53.78%多分类）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2-gram特征：微观指纹提取，效果显著优于统计特征（F1 76.80%）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融合特征：两者互补，取得最优结果（F1 88.95% / 98.40%）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2-4gram vs 2-gram：提升有限，融合时出现增益递减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36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⚙️ 优化对比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贝叶斯优化相比默认参数普遍提升模型性能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二分类：提升约 +0.3%（已接近理论上限，AUC &gt; 0.99）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多分类：提升约 +3~5%（参数调优对复杂任务收益更大）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82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⚠️ 局限性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多分类准确率仍有提升空间（部分家族样本量有限）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Suppobox等家族随机化程度高，分类精度偏低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目前仅针对离线数据集验证，未部署到在线环境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创  新  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🌟 特征融合策略创新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系统对比了统计特征、N-gram及其融合方案，揭示了统计特征（宏观）与2-gram特征（微观）的正交互补机制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4864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🌟 优化方法创新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引入Optuna贝叶斯优化替代传统网格搜索，调参效率提升10倍以上，且在复杂分类任务中效果显著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🌟 统一检测框架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同一框架同时支持二分类（恶意域名检测）和多分类（DGA家族溯源），具有实际应用价值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54864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🌟 深入的特征正交性分析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通过多组对比实验，量化了不同特征维度对模型性能的贡献，为后续研究提供了参考基准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8B4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工作总结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构建了基于XGBoost的DGA检测系统（二分类+多分类）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系统对比4种特征工程方案，确定最优组合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引入Optuna贝叶斯优化自动调参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二分类 F1 98.40% / AUC 0.9989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多分类宏平均 F1 88.95%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🔭  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引入深度学习（CNN/LSTM）与XGBoost集成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扩展到实时在线检测场景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增加更多DGA家族样本覆盖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探索主动学习半监督方法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核心指标一览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DE"/>
                </a:solidFill>
              </a:defRPr>
            </a:pPr>
            <a:r>
              <a:t>二分类：准确率 98.40% | F1 98.40% | AUC 0.9989    多分类：宏平均 F1 88.95% | 最优特征：统计 + 2-gram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致  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560320"/>
            <a:ext cx="2103120" cy="1828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4"/>
                </a:solidFill>
              </a:defRPr>
            </a:pPr>
            <a:r>
              <a:t>感谢指导老师 余玉银 老师的悉心指导与耐心帮助</a:t>
            </a:r>
            <a:br/>
            <a:r>
              <a:t>感谢数学与信息科学学院各位老师的教诲与培养</a:t>
            </a:r>
            <a:br/>
            <a:r>
              <a:t>感谢家人和同学的支持与鼓励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029200"/>
            <a:ext cx="5760720" cy="13716"/>
          </a:xfrm>
          <a:prstGeom prst="rect">
            <a:avLst/>
          </a:prstGeom>
          <a:solidFill>
            <a:srgbClr val="A0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请各位老师批评指正！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4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